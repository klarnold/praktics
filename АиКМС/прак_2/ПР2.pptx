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8" d="100"/>
          <a:sy n="98" d="100"/>
        </p:scale>
        <p:origin x="147" y="209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AutoShape 2"/>
          <p:cNvSpPr>
            <a:spLocks noChangeArrowheads="1" noChangeAspect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AutoShape 4"/>
          <p:cNvSpPr>
            <a:spLocks noChangeArrowheads="1" noChangeAspect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8" name="Таблица 7"/>
          <p:cNvGraphicFramePr>
            <a:graphicFrameLocks xmlns:a="http://schemas.openxmlformats.org/drawingml/2006/main" noGrp="1"/>
          </p:cNvGraphicFramePr>
          <p:nvPr/>
        </p:nvGraphicFramePr>
        <p:xfrm>
          <a:off x="757929" y="1299298"/>
          <a:ext cx="10371342" cy="201168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697346"/>
                <a:gridCol w="921316"/>
                <a:gridCol w="1483008"/>
                <a:gridCol w="5876301"/>
                <a:gridCol w="1393371"/>
              </a:tblGrid>
              <a:tr h="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недели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 b="1">
                          <a:latin typeface="Times New Roman"/>
                          <a:ea typeface="Droid Sans Fallback"/>
                          <a:cs typeface="FreeSans"/>
                        </a:rPr>
                        <a:t>Неделя выдачи</a:t>
                      </a:r>
                      <a:endParaRPr/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Наименование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Срок сдачи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функционала системы.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функций системы через диаграмму вариантов использования.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 анализа.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последовательности.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10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деятельности.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 Диаграммы компонентов, развертывания.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Доклад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13-14 неделя</a:t>
                      </a:r>
                      <a:endParaRPr/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14 неделя</a:t>
                      </a:r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Проек</a:t>
                      </a:r>
                      <a:r>
                        <a:rPr lang="ru-RU" sz="1200"/>
                        <a:t>т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15-16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2037273" y="3699422"/>
          <a:ext cx="7020560" cy="164592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1170305"/>
                <a:gridCol w="2700020"/>
                <a:gridCol w="3150235"/>
              </a:tblGrid>
              <a:tr h="36576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в срок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после срока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Быстрое погружение в суть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545770"/>
            <a:ext cx="9965871" cy="4604127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ru-RU" sz="7200" i="1">
                <a:solidFill>
                  <a:srgbClr val="0E0E0E"/>
                </a:solidFill>
                <a:latin typeface="Bender"/>
              </a:rPr>
              <a:t>Диаграмма вариантов использования (англ. </a:t>
            </a:r>
            <a:r>
              <a:rPr lang="en" sz="7200" i="1">
                <a:solidFill>
                  <a:srgbClr val="0E0E0E"/>
                </a:solidFill>
                <a:latin typeface="Bender"/>
              </a:rPr>
              <a:t>use-case diagram)</a:t>
            </a:r>
            <a:r>
              <a:rPr lang="en" sz="7200">
                <a:solidFill>
                  <a:srgbClr val="0E0E0E"/>
                </a:solidFill>
                <a:latin typeface="Bender"/>
              </a:rPr>
              <a:t> – </a:t>
            </a:r>
            <a:r>
              <a:rPr lang="ru-RU" sz="7200">
                <a:solidFill>
                  <a:srgbClr val="0E0E0E"/>
                </a:solidFill>
                <a:latin typeface="Bender"/>
              </a:rPr>
              <a:t>диаграмма, описывающая, какой функционал разрабатываемой программной системы доступен каждой группе пользователей.</a:t>
            </a:r>
            <a:endParaRPr/>
          </a:p>
          <a:p>
            <a:pPr marL="0" indent="0">
              <a:lnSpc>
                <a:spcPct val="150000"/>
              </a:lnSpc>
              <a:buNone/>
              <a:defRPr/>
            </a:pPr>
            <a:endParaRPr lang="ru-RU" sz="7200">
              <a:solidFill>
                <a:srgbClr val="0E0E0E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r>
              <a:rPr lang="ru-RU" sz="7200">
                <a:solidFill>
                  <a:srgbClr val="0E0E11"/>
                </a:solidFill>
                <a:latin typeface="Bender"/>
              </a:rPr>
              <a:t>Диаграммы вариантов использования</a:t>
            </a:r>
            <a:r>
              <a:rPr lang="ru-RU" sz="7200">
                <a:solidFill>
                  <a:srgbClr val="0E0E0E"/>
                </a:solidFill>
                <a:latin typeface="Bender"/>
              </a:rPr>
              <a:t> </a:t>
            </a:r>
            <a:r>
              <a:rPr lang="ru-RU" sz="7200">
                <a:solidFill>
                  <a:srgbClr val="0E0E11"/>
                </a:solidFill>
                <a:latin typeface="Bender"/>
              </a:rPr>
              <a:t>описывают функциональное назначение системы или то, что система должна</a:t>
            </a:r>
            <a:r>
              <a:rPr lang="en-US" sz="7200">
                <a:solidFill>
                  <a:srgbClr val="0E0E11"/>
                </a:solidFill>
                <a:latin typeface="Bender"/>
              </a:rPr>
              <a:t> </a:t>
            </a:r>
            <a:r>
              <a:rPr lang="ru-RU" sz="7200">
                <a:solidFill>
                  <a:srgbClr val="0E0E11"/>
                </a:solidFill>
                <a:latin typeface="Bender"/>
              </a:rPr>
              <a:t>делать.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 зачем оно?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ru-RU" sz="2800">
                <a:solidFill>
                  <a:srgbClr val="0E0E11"/>
                </a:solidFill>
                <a:latin typeface="Bender"/>
              </a:rPr>
              <a:t>Разработка диаграммы преследует</a:t>
            </a:r>
            <a:r>
              <a:rPr lang="ru-RU" sz="2800" i="1">
                <a:solidFill>
                  <a:srgbClr val="0E0E11"/>
                </a:solidFill>
                <a:latin typeface="Bender"/>
              </a:rPr>
              <a:t> следующие цели</a:t>
            </a:r>
            <a:r>
              <a:rPr lang="ru-RU" sz="2800">
                <a:solidFill>
                  <a:srgbClr val="0E0E11"/>
                </a:solidFill>
                <a:latin typeface="Bender"/>
              </a:rPr>
              <a:t>:</a:t>
            </a:r>
            <a:endParaRPr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2800">
                <a:solidFill>
                  <a:srgbClr val="000000"/>
                </a:solidFill>
                <a:latin typeface="Bender"/>
              </a:rPr>
              <a:t>- определить общие границы и контекст моделируемой предметной области;</a:t>
            </a:r>
            <a:endParaRPr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2800">
                <a:solidFill>
                  <a:srgbClr val="000000"/>
                </a:solidFill>
                <a:latin typeface="Bender"/>
              </a:rPr>
              <a:t>- сформулировать общие требования к функциональному поведению проектируемой системы;</a:t>
            </a:r>
            <a:endParaRPr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2800">
                <a:solidFill>
                  <a:srgbClr val="000000"/>
                </a:solidFill>
                <a:latin typeface="Bender"/>
              </a:rPr>
              <a:t>- разработать исходную концептуальную модель системы для ее последующей детализации в форме логических и физических моделей;</a:t>
            </a:r>
            <a:endParaRPr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2800">
                <a:solidFill>
                  <a:srgbClr val="000000"/>
                </a:solidFill>
                <a:latin typeface="Bender"/>
              </a:rPr>
              <a:t>- подготовить исходную документацию для взаимодействия разработчиков системы с ее заказчиками и пользователями.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5172307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ru-RU" sz="2800">
                <a:solidFill>
                  <a:srgbClr val="000000"/>
                </a:solidFill>
                <a:latin typeface="Bender"/>
              </a:rPr>
              <a:t>Диаграмма вариантов использования состоит из актеров, для которых система производит действие, и собственно действия (</a:t>
            </a:r>
            <a:r>
              <a:rPr lang="en" sz="2800">
                <a:solidFill>
                  <a:srgbClr val="000000"/>
                </a:solidFill>
                <a:latin typeface="Bender"/>
              </a:rPr>
              <a:t>Use Case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)</a:t>
            </a:r>
            <a:r>
              <a:rPr lang="en" sz="2800">
                <a:solidFill>
                  <a:srgbClr val="000000"/>
                </a:solidFill>
                <a:latin typeface="Bender"/>
              </a:rPr>
              <a:t>, 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которое описывает то, что актер хочет получить от системы. 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 sz="2800">
                <a:solidFill>
                  <a:srgbClr val="000000"/>
                </a:solidFill>
                <a:latin typeface="Bender"/>
              </a:rPr>
              <a:t>Дополнительно в диаграммы могут быть добавлены комментарии.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1026" name="Picture 2" descr="What is an Actor in UML? - Smartpedia - t2informatik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322741" y="2089818"/>
            <a:ext cx="4818256" cy="213115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Подробнее про Актёров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 b="1" i="1">
                <a:solidFill>
                  <a:srgbClr val="000000"/>
                </a:solidFill>
                <a:latin typeface="Bender"/>
              </a:rPr>
              <a:t>Актером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 (действующим лицом, актантом, актором) называется любой</a:t>
            </a:r>
            <a:r>
              <a:rPr lang="en-US" sz="2800">
                <a:solidFill>
                  <a:srgbClr val="000000"/>
                </a:solidFill>
                <a:latin typeface="Bender"/>
              </a:rPr>
              <a:t> 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объект, субъект или система, взаимодействующая с моделируемой системой</a:t>
            </a:r>
            <a:r>
              <a:rPr lang="en-US" sz="2800">
                <a:solidFill>
                  <a:srgbClr val="000000"/>
                </a:solidFill>
                <a:latin typeface="Bender"/>
              </a:rPr>
              <a:t> 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извне. В свою очередь </a:t>
            </a:r>
            <a:r>
              <a:rPr lang="ru-RU" sz="2800" b="1" i="1">
                <a:solidFill>
                  <a:srgbClr val="000000"/>
                </a:solidFill>
                <a:latin typeface="Bender"/>
              </a:rPr>
              <a:t>вариант использования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 – это спецификация сервисов</a:t>
            </a:r>
            <a:r>
              <a:rPr lang="en-US" sz="2800">
                <a:solidFill>
                  <a:srgbClr val="000000"/>
                </a:solidFill>
                <a:latin typeface="Bender"/>
              </a:rPr>
              <a:t> 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(функций), которые система предоставляет актеру.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52989" t="10063" r="6016" b="37266"/>
          <a:stretch/>
        </p:blipFill>
        <p:spPr bwMode="auto">
          <a:xfrm>
            <a:off x="3021980" y="4124649"/>
            <a:ext cx="5559611" cy="2312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Подробнее про варианты использования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 i="1">
                <a:solidFill>
                  <a:srgbClr val="000000"/>
                </a:solidFill>
                <a:latin typeface="Bender"/>
              </a:rPr>
              <a:t>Вариант использования </a:t>
            </a:r>
            <a:r>
              <a:rPr lang="ru-RU">
                <a:solidFill>
                  <a:srgbClr val="000000"/>
                </a:solidFill>
                <a:latin typeface="Bender"/>
              </a:rPr>
              <a:t>обозначается на диаграмме эллипсом,</a:t>
            </a:r>
            <a:r>
              <a:rPr lang="en-US">
                <a:solidFill>
                  <a:srgbClr val="000000"/>
                </a:solidFill>
                <a:latin typeface="Bender"/>
              </a:rPr>
              <a:t> </a:t>
            </a:r>
            <a:r>
              <a:rPr lang="ru-RU">
                <a:solidFill>
                  <a:srgbClr val="000000"/>
                </a:solidFill>
                <a:latin typeface="Bender"/>
              </a:rPr>
              <a:t>внутри которого содержится его описание, обозначающее выполнение какой-</a:t>
            </a:r>
            <a:r>
              <a:rPr lang="en-US">
                <a:solidFill>
                  <a:srgbClr val="000000"/>
                </a:solidFill>
                <a:latin typeface="Bender"/>
              </a:rPr>
              <a:t> </a:t>
            </a:r>
            <a:r>
              <a:rPr lang="ru-RU">
                <a:solidFill>
                  <a:srgbClr val="000000"/>
                </a:solidFill>
                <a:latin typeface="Bender"/>
              </a:rPr>
              <a:t>либо операции или действия.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2050" name="Picture 2" descr="Изображаем на диаграмме возможность покупателей оплачивать заказы"/>
          <p:cNvPicPr>
            <a:picLocks noChangeAspect="1" noChangeArrowheads="1"/>
          </p:cNvPicPr>
          <p:nvPr/>
        </p:nvPicPr>
        <p:blipFill>
          <a:blip r:embed="rId2"/>
          <a:srcRect l="49707" t="0" r="0" b="29003"/>
          <a:stretch/>
        </p:blipFill>
        <p:spPr bwMode="auto">
          <a:xfrm>
            <a:off x="4388004" y="4125022"/>
            <a:ext cx="2227573" cy="124428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Связи между актёрами и вариантами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ru-RU">
                <a:latin typeface="Bender"/>
              </a:rPr>
              <a:t>Ассоциация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>
                <a:latin typeface="Bender"/>
              </a:rPr>
              <a:t>Обобщение / наследование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>
                <a:latin typeface="Bender"/>
              </a:rPr>
              <a:t>Включение (</a:t>
            </a:r>
            <a:r>
              <a:rPr lang="en-US">
                <a:latin typeface="Bender"/>
              </a:rPr>
              <a:t>include</a:t>
            </a:r>
            <a:r>
              <a:rPr lang="ru-RU">
                <a:latin typeface="Bender"/>
              </a:rPr>
              <a:t>)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>
                <a:latin typeface="Bender"/>
              </a:rPr>
              <a:t>Расширение (</a:t>
            </a:r>
            <a:r>
              <a:rPr lang="en-US">
                <a:latin typeface="Bender"/>
              </a:rPr>
              <a:t>extend</a:t>
            </a:r>
            <a:r>
              <a:rPr lang="ru-RU">
                <a:latin typeface="Bender"/>
              </a:rPr>
              <a:t>)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844615" y="1322019"/>
            <a:ext cx="3409950" cy="1390650"/>
          </a:xfrm>
          <a:prstGeom prst="rect">
            <a:avLst/>
          </a:prstGeom>
          <a:noFill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7482700" y="1298206"/>
            <a:ext cx="4248150" cy="1438275"/>
          </a:xfrm>
          <a:prstGeom prst="rect">
            <a:avLst/>
          </a:prstGeom>
          <a:noFill/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5649836" y="3115729"/>
            <a:ext cx="3956939" cy="1683804"/>
          </a:xfrm>
          <a:prstGeom prst="rect">
            <a:avLst/>
          </a:prstGeom>
          <a:noFill/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5649836" y="4953957"/>
            <a:ext cx="4048125" cy="18002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Ассоциация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Отражает связь актёра с вариантом использования</a:t>
            </a:r>
            <a:endParaRPr lang="en-US"/>
          </a:p>
        </p:txBody>
      </p:sp>
      <p:pic>
        <p:nvPicPr>
          <p:cNvPr id="4" name="Picture 2" descr="Изображаем на диаграмме возможность покупателей оплачивать заказы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697443" y="3801637"/>
            <a:ext cx="4429125" cy="1752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Обобщение / наследование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Указывает, что потомок наследует все атрибуты своего предка.</a:t>
            </a:r>
            <a:endParaRPr lang="en-US"/>
          </a:p>
        </p:txBody>
      </p:sp>
      <p:pic>
        <p:nvPicPr>
          <p:cNvPr id="4100" name="Picture 4" descr="Покупка горного и скоростного велосипеда - ЧАСТНЫЙ случай покупки велосипеда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320839" y="3018845"/>
            <a:ext cx="4086225" cy="2314575"/>
          </a:xfrm>
          <a:prstGeom prst="rect">
            <a:avLst/>
          </a:prstGeom>
          <a:noFill/>
        </p:spPr>
      </p:pic>
      <p:pic>
        <p:nvPicPr>
          <p:cNvPr id="4106" name="Picture 10" descr="Физическое лицо и юридическое лицо можно ОБОБЩИТЬ до обычного покупателя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096000" y="2861682"/>
            <a:ext cx="3120716" cy="26748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Включение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показывает, что связанный вариант использования выполняется всегда при выполнении основного варианта использования</a:t>
            </a:r>
            <a:endParaRPr lang="en-US"/>
          </a:p>
        </p:txBody>
      </p:sp>
      <p:pic>
        <p:nvPicPr>
          <p:cNvPr id="6146" name="Picture 2" descr="Отношение включения используется для изображения составного действия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660263" y="3338048"/>
            <a:ext cx="4819650" cy="220027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Расширение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показывает, что связанный вариант использования может дополнять выполнение основного варианта использования.</a:t>
            </a:r>
            <a:endParaRPr lang="en-US"/>
          </a:p>
        </p:txBody>
      </p:sp>
      <p:pic>
        <p:nvPicPr>
          <p:cNvPr id="7170" name="Picture 2" descr="На диаграмме предполагается, что к заказу МОЖЕТ БЫТЬ добавлена картошка фри или соус (необязательно)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46708" y="3035300"/>
            <a:ext cx="5419725" cy="3276600"/>
          </a:xfrm>
          <a:prstGeom prst="rect">
            <a:avLst/>
          </a:prstGeom>
          <a:noFill/>
        </p:spPr>
      </p:pic>
      <p:pic>
        <p:nvPicPr>
          <p:cNvPr id="7174" name="Picture 6" descr="Расширяем функционал отправки сообщений с помощью функции прикрепления файлов к сообщению (Необязательно прикреплять файл к каждому сообщению)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962534" y="2825440"/>
            <a:ext cx="5229225" cy="14859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Примечания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>
                <a:solidFill>
                  <a:srgbClr val="000000"/>
                </a:solidFill>
                <a:latin typeface="Bender"/>
              </a:rPr>
              <a:t>Предназначены для включения в диаграмму произвольной</a:t>
            </a:r>
            <a:r>
              <a:rPr lang="en-US" sz="2800">
                <a:solidFill>
                  <a:srgbClr val="000000"/>
                </a:solidFill>
                <a:latin typeface="Bender"/>
              </a:rPr>
              <a:t> 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текстовой информации, имеющей непосредственное отношение к контексту</a:t>
            </a:r>
            <a:r>
              <a:rPr lang="en-US" sz="2800">
                <a:solidFill>
                  <a:srgbClr val="000000"/>
                </a:solidFill>
                <a:latin typeface="Bender"/>
              </a:rPr>
              <a:t> 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разрабатываемой системы. </a:t>
            </a:r>
            <a:br>
              <a:rPr lang="ru-RU" sz="2800">
                <a:solidFill>
                  <a:srgbClr val="000000"/>
                </a:solidFill>
                <a:latin typeface="Bender"/>
              </a:rPr>
            </a:br>
            <a:r>
              <a:rPr lang="ru-RU" sz="2800">
                <a:solidFill>
                  <a:srgbClr val="000000"/>
                </a:solidFill>
                <a:latin typeface="Bender"/>
              </a:rPr>
              <a:t>Линия, соединяющая примечание и элемент</a:t>
            </a:r>
            <a:r>
              <a:rPr lang="en-US" sz="2800">
                <a:solidFill>
                  <a:srgbClr val="000000"/>
                </a:solidFill>
                <a:latin typeface="Bender"/>
              </a:rPr>
              <a:t> </a:t>
            </a:r>
            <a:r>
              <a:rPr lang="ru-RU" sz="2800">
                <a:solidFill>
                  <a:srgbClr val="000000"/>
                </a:solidFill>
                <a:latin typeface="Bender"/>
              </a:rPr>
              <a:t>диаграммы, называется якорем (фиксацией).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0" t="0" r="0" b="12581"/>
          <a:stretch/>
        </p:blipFill>
        <p:spPr bwMode="auto">
          <a:xfrm>
            <a:off x="3061776" y="3950068"/>
            <a:ext cx="5257800" cy="2775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диаграммы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8194" name="Picture 2" descr="Четвёртая версия диаграммы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888166" y="1323624"/>
            <a:ext cx="6056796" cy="549482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Практическая работа 2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198" y="1524000"/>
            <a:ext cx="10776857" cy="521425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Цель работы: изучить основные элементы и правила построения диаграммы вариантов использования.  </a:t>
            </a:r>
            <a:endParaRPr/>
          </a:p>
          <a:p>
            <a:pPr>
              <a:defRPr/>
            </a:pPr>
            <a:r>
              <a:rPr lang="ru-RU"/>
              <a:t>Задачи: описать функции рассматриваемой системы с помощью диаграммы вариантов использования.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Нотация: </a:t>
            </a:r>
            <a:r>
              <a:rPr lang="en-US"/>
              <a:t>UML (Use case diagram). </a:t>
            </a:r>
            <a:endParaRPr lang="ru-RU"/>
          </a:p>
          <a:p>
            <a:pPr>
              <a:defRPr/>
            </a:pPr>
            <a:r>
              <a:rPr lang="ru-RU"/>
              <a:t>ПО: </a:t>
            </a:r>
            <a:r>
              <a:rPr lang="en-US"/>
              <a:t>Visual Paradigm, Draw.io, Rational Rose. 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Время выполнения: 2 пары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Пара 1 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514350" indent="-514350">
              <a:buAutoNum type="arabicPeriod"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Построить диаграмму вариантов использования по следующему описанию: </a:t>
            </a:r>
            <a:endParaRPr/>
          </a:p>
          <a:p>
            <a:pPr marL="0" indent="0">
              <a:buNone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«Клиент банка может пополнить счет, в случае отсутствия счета предварительно открыв его, или снять деньги со счета, с возможностью его закрытия. В каждом из описанных действий участвует операционист банка и кассир.» </a:t>
            </a:r>
            <a:br>
              <a:rPr lang="ru-RU">
                <a:solidFill>
                  <a:srgbClr val="000000"/>
                </a:solidFill>
                <a:latin typeface="Times New Roman"/>
              </a:rPr>
            </a:b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Заполнить таблицу на основе полученной диаграммы: </a:t>
            </a:r>
            <a:endParaRPr lang="en-US"/>
          </a:p>
        </p:txBody>
      </p:sp>
      <p:graphicFrame>
        <p:nvGraphicFramePr>
          <p:cNvPr id="4" name="Таблица 3"/>
          <p:cNvGraphicFramePr>
            <a:graphicFrameLocks xmlns:a="http://schemas.openxmlformats.org/drawingml/2006/main" noGrp="1"/>
          </p:cNvGraphicFramePr>
          <p:nvPr/>
        </p:nvGraphicFramePr>
        <p:xfrm>
          <a:off x="918325" y="5243224"/>
          <a:ext cx="8127999" cy="7416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3510000"/>
                <a:gridCol w="1908665"/>
                <a:gridCol w="2709332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Актер/Вариант использования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Тип связи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Вариант использования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918325" y="6216134"/>
            <a:ext cx="6096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1 пара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837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Пара 2 </a:t>
            </a:r>
            <a:endParaRPr lang="en-US"/>
          </a:p>
        </p:txBody>
      </p:sp>
      <p:sp>
        <p:nvSpPr>
          <p:cNvPr id="846135966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Описать спецификацию функций рассматриваемой системы с учетом индивидуального варианта учебного проекта. </a:t>
            </a:r>
            <a:b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Перед построением диаграммы необходимо задокументировать </a:t>
            </a:r>
            <a:r>
              <a:rPr lang="ru-RU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потоки событий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в системе. </a:t>
            </a:r>
            <a:endParaRPr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endParaRPr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Изобразить спецификацию функций системы, описанной в п.2 через диаграмму </a:t>
            </a:r>
            <a:r>
              <a:rPr lang="ru-RU" sz="26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вариантов использования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br>
              <a:rPr lang="ru-RU" sz="260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endParaRPr sz="260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60768874" name="TextBox 5"/>
          <p:cNvSpPr txBox="1"/>
          <p:nvPr/>
        </p:nvSpPr>
        <p:spPr bwMode="auto">
          <a:xfrm>
            <a:off x="918324" y="6216133"/>
            <a:ext cx="6096927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1 пара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9028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Поток событий для прецедента</a:t>
            </a:r>
            <a:endParaRPr lang="en-US"/>
          </a:p>
        </p:txBody>
      </p:sp>
      <p:sp>
        <p:nvSpPr>
          <p:cNvPr id="527325832" name="Объект 2"/>
          <p:cNvSpPr>
            <a:spLocks noGrp="1"/>
          </p:cNvSpPr>
          <p:nvPr>
            <p:ph idx="1"/>
          </p:nvPr>
        </p:nvSpPr>
        <p:spPr bwMode="auto">
          <a:xfrm>
            <a:off x="838197" y="1523999"/>
            <a:ext cx="10776857" cy="52142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Поток</a:t>
            </a:r>
            <a:r>
              <a:rPr lang="en-US" sz="2400" b="0" i="0" u="none" strike="noStrike" cap="none" spc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событий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является важнейшим аспектом формирования вариантов использования. Он описывает пошаговое развитие действий в рамках ра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ссматриваемого варианта использования. </a:t>
            </a:r>
            <a:endParaRPr sz="2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Каждый шаг в потоке событий соответствует определенному действию или точке принятия решения, предлагая комплексное представление о взаимодействии пользователя и системы.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2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Определение альтернативных потоков и исключений имеет жизненно важное значение для прогнозирования различных путей, которые может принять вариант использования.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8043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</a:t>
            </a:r>
            <a:endParaRPr lang="en-US"/>
          </a:p>
        </p:txBody>
      </p:sp>
      <p:sp>
        <p:nvSpPr>
          <p:cNvPr id="201115974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5156093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65156" y="0"/>
            <a:ext cx="4276724" cy="1857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3733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</a:t>
            </a:r>
            <a:endParaRPr lang="en-US"/>
          </a:p>
        </p:txBody>
      </p:sp>
      <p:sp>
        <p:nvSpPr>
          <p:cNvPr id="323085856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90311" y="1857375"/>
            <a:ext cx="5498362" cy="49463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15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Вариант использования</a:t>
            </a: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Название: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Купить велосипед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Описание: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chemeClr val="accent5"/>
                </a:solidFill>
                <a:latin typeface="Arial"/>
                <a:ea typeface="Arial"/>
                <a:cs typeface="Arial"/>
              </a:rPr>
              <a:t>Покупатель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инициирует процесс покупки велосипеда онлайн.</a:t>
            </a:r>
            <a:endParaRPr sz="15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0863008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65155" y="0"/>
            <a:ext cx="4276724" cy="1857375"/>
          </a:xfrm>
          <a:prstGeom prst="rect">
            <a:avLst/>
          </a:prstGeom>
        </p:spPr>
      </p:pic>
      <p:cxnSp>
        <p:nvCxnSpPr>
          <p:cNvPr id="315332790" name=""/>
          <p:cNvCxnSpPr>
            <a:cxnSpLocks/>
          </p:cNvCxnSpPr>
          <p:nvPr/>
        </p:nvCxnSpPr>
        <p:spPr bwMode="auto">
          <a:xfrm flipH="0" flipV="1">
            <a:off x="2392187" y="773906"/>
            <a:ext cx="6657577" cy="1418828"/>
          </a:xfrm>
          <a:prstGeom prst="line">
            <a:avLst/>
          </a:prstGeom>
          <a:ln w="38099" cap="flat" cmpd="sng" algn="ctr">
            <a:solidFill>
              <a:schemeClr val="accent6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324117" name=""/>
          <p:cNvCxnSpPr>
            <a:cxnSpLocks/>
          </p:cNvCxnSpPr>
          <p:nvPr/>
        </p:nvCxnSpPr>
        <p:spPr bwMode="auto">
          <a:xfrm flipH="0" flipV="1">
            <a:off x="2064765" y="1532929"/>
            <a:ext cx="4951015" cy="1056679"/>
          </a:xfrm>
          <a:prstGeom prst="line">
            <a:avLst/>
          </a:prstGeom>
          <a:ln w="38099" cap="flat" cmpd="sng" algn="ctr">
            <a:solidFill>
              <a:schemeClr val="accent5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30708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</a:t>
            </a:r>
            <a:endParaRPr lang="en-US"/>
          </a:p>
        </p:txBody>
      </p:sp>
      <p:sp>
        <p:nvSpPr>
          <p:cNvPr id="1708385397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90311" y="1857375"/>
            <a:ext cx="5498362" cy="49463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15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Вариант использования</a:t>
            </a: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Название: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Купить велосипед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Описание: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инициирует процесс покупки велосипеда онлайн.</a:t>
            </a:r>
            <a:endParaRPr sz="15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15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sz="1500" b="1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Сценарий использования</a:t>
            </a: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Сценарий: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Пользователь добавляет велосипед в корзину и переходит к оформлению заказа.</a:t>
            </a:r>
            <a:endParaRPr sz="1500"/>
          </a:p>
        </p:txBody>
      </p:sp>
      <p:pic>
        <p:nvPicPr>
          <p:cNvPr id="85508844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65155" y="0"/>
            <a:ext cx="4276724" cy="1857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25486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</a:t>
            </a:r>
            <a:endParaRPr lang="en-US"/>
          </a:p>
        </p:txBody>
      </p:sp>
      <p:sp>
        <p:nvSpPr>
          <p:cNvPr id="1480978217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90311" y="1857375"/>
            <a:ext cx="5498362" cy="49463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16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Вариант использования</a:t>
            </a: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Название: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Купить велосипед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Описание: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инициирует процесс покупки велосипеда онлайн.</a:t>
            </a:r>
            <a:endParaRPr sz="16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16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sz="1600" b="1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Сценарий использования</a:t>
            </a: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Сценарий: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Пользователь добавляет велосипед в корзину и переходит к оформлению заказа.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Поток событий</a:t>
            </a:r>
            <a:r>
              <a:rPr sz="1600" b="0" i="1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входит в систему.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просматривает список велосипедов и добавляет заинтересовавший в корзину.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переходит на страницу оформления заказа.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Система предлагает покупателю подтвердить заказ.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подтверждает и оплачивает заказ.</a:t>
            </a:r>
            <a:endParaRPr sz="4800"/>
          </a:p>
        </p:txBody>
      </p:sp>
      <p:pic>
        <p:nvPicPr>
          <p:cNvPr id="173640898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65155" y="0"/>
            <a:ext cx="4276724" cy="1857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32414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</a:t>
            </a:r>
            <a:endParaRPr lang="en-US"/>
          </a:p>
        </p:txBody>
      </p:sp>
      <p:sp>
        <p:nvSpPr>
          <p:cNvPr id="73788506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90311" y="1857375"/>
            <a:ext cx="5498362" cy="49463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16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Вариант использования</a:t>
            </a: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Название: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Купить велосипед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Описание: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инициирует процесс покупки велосипеда онлайн.</a:t>
            </a:r>
            <a:endParaRPr sz="16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16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sz="1600" b="1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Сценарий использования</a:t>
            </a: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Сценарий: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Пользователь добавляет велосипед в корзину и переходит к оформлению заказа.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Поток событий</a:t>
            </a:r>
            <a:r>
              <a:rPr sz="1600" b="0" i="1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входит в систему.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просматривает список велосипедов и добавляет заинтересовавший в корзину.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переходит на страницу оформления заказа.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Система предлагает покупателю подтвердить заказ.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подтверждает и оплачивает заказ.</a:t>
            </a:r>
            <a:endParaRPr sz="4800"/>
          </a:p>
        </p:txBody>
      </p:sp>
      <p:pic>
        <p:nvPicPr>
          <p:cNvPr id="108898343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65155" y="0"/>
            <a:ext cx="4276724" cy="1857375"/>
          </a:xfrm>
          <a:prstGeom prst="rect">
            <a:avLst/>
          </a:prstGeom>
        </p:spPr>
      </p:pic>
      <p:sp>
        <p:nvSpPr>
          <p:cNvPr id="2016658478" name="Объект 2"/>
          <p:cNvSpPr>
            <a:spLocks noGrp="1"/>
          </p:cNvSpPr>
          <p:nvPr/>
        </p:nvSpPr>
        <p:spPr bwMode="auto">
          <a:xfrm flipH="0" flipV="0">
            <a:off x="6095999" y="1857375"/>
            <a:ext cx="6069233" cy="5047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 Шаблон варианта использования: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Название варианта использования: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Купить велосипед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Описание: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Инициирует процесс покупки товаров через Интернет.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Актеры: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Предварительные условия: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вошел в систему.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Постусловия: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Заказ на велосипед оформлен.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65191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</a:t>
            </a:r>
            <a:endParaRPr lang="en-US"/>
          </a:p>
        </p:txBody>
      </p:sp>
      <p:sp>
        <p:nvSpPr>
          <p:cNvPr id="892465834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90311" y="1857375"/>
            <a:ext cx="5498362" cy="49463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16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Вариант использования</a:t>
            </a: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Название: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Купить велосипед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Описание: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инициирует процесс покупки велосипеда онлайн.</a:t>
            </a:r>
            <a:endParaRPr sz="16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1600" b="0" i="0" u="none">
              <a:solidFill>
                <a:srgbClr val="242424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sz="1600" b="1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Сценарий использования</a:t>
            </a: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Сценарий: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Пользователь добавляет велосипед в корзину и переходит к оформлению заказа.</a:t>
            </a:r>
            <a:endParaRPr sz="4800"/>
          </a:p>
          <a:p>
            <a:pPr marL="0" indent="0">
              <a:buFont typeface="Arial"/>
              <a:buNone/>
              <a:defRPr/>
            </a:pPr>
            <a:r>
              <a:rPr sz="1600" b="0" i="1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Поток событий</a:t>
            </a:r>
            <a:r>
              <a:rPr sz="1600" b="0" i="1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входит в систему.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просматривает список велосипедов и добавляет заинтересовавший в корзину.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переходит на страницу оформления заказа.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Система предлагает покупателю подтвердить заказ.</a:t>
            </a:r>
            <a:endParaRPr sz="4800"/>
          </a:p>
          <a:p>
            <a:pPr>
              <a:defRPr/>
            </a:pPr>
            <a:r>
              <a:rPr sz="16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подтверждает и оплачивает заказ.</a:t>
            </a:r>
            <a:endParaRPr sz="4800"/>
          </a:p>
        </p:txBody>
      </p:sp>
      <p:pic>
        <p:nvPicPr>
          <p:cNvPr id="54890049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65155" y="0"/>
            <a:ext cx="4276724" cy="1857375"/>
          </a:xfrm>
          <a:prstGeom prst="rect">
            <a:avLst/>
          </a:prstGeom>
        </p:spPr>
      </p:pic>
      <p:sp>
        <p:nvSpPr>
          <p:cNvPr id="778646048" name="Объект 2"/>
          <p:cNvSpPr>
            <a:spLocks noGrp="1"/>
          </p:cNvSpPr>
          <p:nvPr/>
        </p:nvSpPr>
        <p:spPr bwMode="auto">
          <a:xfrm flipH="0" flipV="0">
            <a:off x="6095999" y="1857375"/>
            <a:ext cx="6069233" cy="5047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 Шаблон варианта использования: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Название варианта использования: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Купить велосипед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Описание: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Инициирует процесс покупки товаров через Интернет.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Актеры: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Предварительные условия: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вошел в систему.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Постусловия: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Заказ на велосипед оформлен.</a:t>
            </a:r>
            <a:endParaRPr sz="1500"/>
          </a:p>
          <a:p>
            <a:pPr marL="0" indent="0">
              <a:buFont typeface="Arial"/>
              <a:buNone/>
              <a:defRPr/>
            </a:pP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Основной поток:</a:t>
            </a:r>
            <a:endParaRPr sz="1500"/>
          </a:p>
          <a:p>
            <a:pPr>
              <a:defRPr/>
            </a:pP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входит в систему.</a:t>
            </a:r>
            <a:endParaRPr sz="1500"/>
          </a:p>
          <a:p>
            <a:pPr>
              <a:defRPr/>
            </a:pP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добавляет велосипед в корзину.</a:t>
            </a:r>
            <a:endParaRPr sz="1500"/>
          </a:p>
          <a:p>
            <a:pPr>
              <a:defRPr/>
            </a:pP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переходит на страницу оформления заказа.</a:t>
            </a:r>
            <a:endParaRPr sz="1500"/>
          </a:p>
          <a:p>
            <a:pPr>
              <a:defRPr/>
            </a:pP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Система предлагает покупателю подтвердить заказ.</a:t>
            </a:r>
            <a:endParaRPr sz="1500"/>
          </a:p>
          <a:p>
            <a:pPr>
              <a:defRPr/>
            </a:pP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Покупатель подтверждает и оплачивает заказ.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1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Альтернативный поток: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в данном случае отсутствует.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04934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Выводы</a:t>
            </a:r>
            <a:endParaRPr/>
          </a:p>
        </p:txBody>
      </p:sp>
      <p:sp>
        <p:nvSpPr>
          <p:cNvPr id="2145919261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7228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В рассмотренном примере:</a:t>
            </a:r>
            <a:endParaRPr sz="1500"/>
          </a:p>
          <a:p>
            <a:pPr marL="0" indent="0">
              <a:buFont typeface="Arial"/>
              <a:buNone/>
              <a:defRPr/>
            </a:pPr>
            <a:endParaRPr sz="1500"/>
          </a:p>
          <a:p>
            <a:pPr>
              <a:defRPr/>
            </a:pPr>
            <a:r>
              <a:rPr sz="15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Вариант</a:t>
            </a:r>
            <a:r>
              <a:rPr sz="15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использования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— это высокоуровневое описание функциональности «покупка товара» (велосипеда) с внешней точки зрения.</a:t>
            </a:r>
            <a:endParaRPr sz="1500"/>
          </a:p>
          <a:p>
            <a:pPr>
              <a:defRPr/>
            </a:pPr>
            <a:endParaRPr sz="1500"/>
          </a:p>
          <a:p>
            <a:pPr>
              <a:defRPr/>
            </a:pPr>
            <a:r>
              <a:rPr sz="1500" b="1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Сценарий</a:t>
            </a:r>
            <a:r>
              <a:rPr sz="1500" b="1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использования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разбивает на части конкретный случай покупки, подробно описывая шаги от входа в систему до оплаты заказа.</a:t>
            </a:r>
            <a:endParaRPr sz="1500"/>
          </a:p>
          <a:p>
            <a:pPr>
              <a:defRPr/>
            </a:pPr>
            <a:endParaRPr sz="1500"/>
          </a:p>
          <a:p>
            <a:pPr>
              <a:defRPr/>
            </a:pPr>
            <a:r>
              <a:rPr sz="1500" b="1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Поток</a:t>
            </a:r>
            <a:r>
              <a:rPr sz="1500" b="1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событий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является хронологической пошаговой последовательностью действий внутри сценария, определяя действия и точки принятия решений.</a:t>
            </a:r>
            <a:endParaRPr sz="1500"/>
          </a:p>
          <a:p>
            <a:pPr>
              <a:defRPr/>
            </a:pPr>
            <a:endParaRPr sz="1500"/>
          </a:p>
          <a:p>
            <a:pPr>
              <a:defRPr/>
            </a:pPr>
            <a:r>
              <a:rPr sz="1500" b="1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Шаблон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варианта использования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предлагает стандартизированный формат для документирования варианта использования, обеспечивая согласованность между различными вариантами использования в системе.</a:t>
            </a:r>
            <a:endParaRPr sz="1500"/>
          </a:p>
          <a:p>
            <a:pPr>
              <a:defRPr/>
            </a:pP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242424"/>
                </a:solidFill>
                <a:latin typeface="Arial"/>
                <a:ea typeface="Arial"/>
                <a:cs typeface="Arial"/>
              </a:rPr>
              <a:t>Такая разбивка помогает понять иерархическую структуру и взаимосвязи между этими элементами в контексте реального сценария.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2700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Пара 2 </a:t>
            </a:r>
            <a:endParaRPr lang="en-US"/>
          </a:p>
        </p:txBody>
      </p:sp>
      <p:sp>
        <p:nvSpPr>
          <p:cNvPr id="1495675639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Описать спецификацию функций рассматриваемой системы с учетом индивидуального варианта учебного проекта. </a:t>
            </a:r>
            <a:b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Перед построением диаграммы необходимо задокументировать </a:t>
            </a:r>
            <a:r>
              <a:rPr lang="ru-RU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потоки событий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в системе. </a:t>
            </a:r>
            <a:endParaRPr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endParaRPr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Изобразить спецификацию функций системы, описанной в п.2 через диаграмму </a:t>
            </a:r>
            <a:r>
              <a:rPr lang="ru-RU" sz="26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вариантов использования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br>
              <a:rPr lang="ru-RU" sz="260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endParaRPr sz="260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lang="en-US"/>
          </a:p>
        </p:txBody>
      </p:sp>
      <p:sp>
        <p:nvSpPr>
          <p:cNvPr id="393752436" name="TextBox 5"/>
          <p:cNvSpPr txBox="1"/>
          <p:nvPr/>
        </p:nvSpPr>
        <p:spPr bwMode="auto">
          <a:xfrm>
            <a:off x="918324" y="6216132"/>
            <a:ext cx="6096926" cy="36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1 пара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38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Правила выполнения:</a:t>
            </a:r>
            <a:endParaRPr/>
          </a:p>
        </p:txBody>
      </p:sp>
      <p:sp>
        <p:nvSpPr>
          <p:cNvPr id="1045528226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Чрезмерной детализации не требуется, т.е. диаграмма не должна быть перенасыщена элементами </a:t>
            </a:r>
            <a:b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6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(не более 15 вариантов использования)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Располагать элементы следует так, чтобы была видна логическая последовательность выполнения вариантов использования и </a:t>
            </a:r>
            <a:r>
              <a:rPr sz="16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минимум пересечений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между связями. 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диаграммах </a:t>
            </a:r>
            <a:r>
              <a:rPr sz="16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не следует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отображать особенности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реализации вариантов использования и внутренней организации системы, связанные со спецификой используемых программных и аппаратных средств. 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Диаграммы предназначены для совместного с заказчиком определения функциональных требований к системе. Поэтому интерпретировать отображенное на них и заказчик и разработчик должны одинаково. 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Содержание отчета: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- Титульный лист</a:t>
            </a:r>
            <a:endParaRPr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- Содержание</a:t>
            </a:r>
            <a:endParaRPr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- Цель работы, задание (вариант индивидуального проекта). </a:t>
            </a:r>
            <a:endParaRPr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- Описание этапов выполнения работы.</a:t>
            </a:r>
            <a:endParaRPr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- Вывод о проделанной работе</a:t>
            </a:r>
            <a:endParaRPr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endParaRPr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Помним про дедлайны!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r7-office/2024.3.2.622</Application>
  <DocSecurity>0</DocSecurity>
  <PresentationFormat>Широкоэкранный</PresentationFormat>
  <Paragraphs>0</Paragraphs>
  <Slides>28</Slides>
  <Notes>28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dc:identifier/>
  <dc:language/>
  <cp:lastModifiedBy>Аноним</cp:lastModifiedBy>
  <cp:revision>8</cp:revision>
  <dcterms:created xsi:type="dcterms:W3CDTF">2025-01-14T16:36:25Z</dcterms:created>
  <dcterms:modified xsi:type="dcterms:W3CDTF">2025-02-26T10:02:13Z</dcterms:modified>
  <cp:category/>
  <cp:contentStatus/>
  <cp:version/>
</cp:coreProperties>
</file>